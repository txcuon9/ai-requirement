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83fe57993041be" /><Relationship Type="http://schemas.openxmlformats.org/officeDocument/2006/relationships/extended-properties" Target="/docProps/app.xml" Id="R1e2d1f1325264311" /><Relationship Type="http://schemas.openxmlformats.org/officeDocument/2006/relationships/officeDocument" Target="/ppt/presentation.xml" Id="Rdf95e739f5fa4f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1134349beb417d"/>
  </p:sldMasterIdLst>
  <p:notesMasterIdLst>
    <p:notesMasterId xmlns:r="http://schemas.openxmlformats.org/officeDocument/2006/relationships" r:id="Rea0c5f2e103b415e"/>
  </p:notesMasterIdLst>
  <p:sldIdLst>
    <p:sldId xmlns:r="http://schemas.openxmlformats.org/officeDocument/2006/relationships" id="256" r:id="Rbb1e54df996444f6"/>
    <p:sldId xmlns:r="http://schemas.openxmlformats.org/officeDocument/2006/relationships" id="257" r:id="R54e02ceb042c419e"/>
    <p:sldId xmlns:r="http://schemas.openxmlformats.org/officeDocument/2006/relationships" id="258" r:id="R18271080a7dd474a"/>
    <p:sldId xmlns:r="http://schemas.openxmlformats.org/officeDocument/2006/relationships" id="259" r:id="R5a3cb9640e50409c"/>
    <p:sldId xmlns:r="http://schemas.openxmlformats.org/officeDocument/2006/relationships" id="260" r:id="R96117ab79aa348d8"/>
    <p:sldId xmlns:r="http://schemas.openxmlformats.org/officeDocument/2006/relationships" id="261" r:id="Rcb98f835e83e4f4b"/>
    <p:sldId xmlns:r="http://schemas.openxmlformats.org/officeDocument/2006/relationships" id="262" r:id="Rc097065af16e437e"/>
    <p:sldId xmlns:r="http://schemas.openxmlformats.org/officeDocument/2006/relationships" id="263" r:id="Rea9ca8f5230d4e98"/>
    <p:sldId xmlns:r="http://schemas.openxmlformats.org/officeDocument/2006/relationships" id="264" r:id="Rb51af3cc3c7a4c81"/>
    <p:sldId xmlns:r="http://schemas.openxmlformats.org/officeDocument/2006/relationships" id="265" r:id="R035b1cd6c7ac48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a2e16e427c49d7" /><Relationship Type="http://schemas.openxmlformats.org/officeDocument/2006/relationships/slideMaster" Target="/ppt/slideMasters/slideMaster1.xml" Id="R961134349beb417d" /><Relationship Type="http://schemas.openxmlformats.org/officeDocument/2006/relationships/notesMaster" Target="/ppt/notesMasters/notesMaster1.xml" Id="Rea0c5f2e103b415e" /><Relationship Type="http://schemas.openxmlformats.org/officeDocument/2006/relationships/presProps" Target="/ppt/presProps.xml" Id="R9dd2cb4b33af45ab" /><Relationship Type="http://schemas.openxmlformats.org/officeDocument/2006/relationships/tableStyles" Target="/ppt/tableStyles.xml" Id="Ra4760c48714c4888" /><Relationship Type="http://schemas.openxmlformats.org/officeDocument/2006/relationships/slide" Target="/ppt/slides/slide1.xml" Id="Rbb1e54df996444f6" /><Relationship Type="http://schemas.openxmlformats.org/officeDocument/2006/relationships/slide" Target="/ppt/slides/slide2.xml" Id="R54e02ceb042c419e" /><Relationship Type="http://schemas.openxmlformats.org/officeDocument/2006/relationships/slide" Target="/ppt/slides/slide3.xml" Id="R18271080a7dd474a" /><Relationship Type="http://schemas.openxmlformats.org/officeDocument/2006/relationships/slide" Target="/ppt/slides/slide4.xml" Id="R5a3cb9640e50409c" /><Relationship Type="http://schemas.openxmlformats.org/officeDocument/2006/relationships/slide" Target="/ppt/slides/slide5.xml" Id="R96117ab79aa348d8" /><Relationship Type="http://schemas.openxmlformats.org/officeDocument/2006/relationships/slide" Target="/ppt/slides/slide6.xml" Id="Rcb98f835e83e4f4b" /><Relationship Type="http://schemas.openxmlformats.org/officeDocument/2006/relationships/slide" Target="/ppt/slides/slide7.xml" Id="Rc097065af16e437e" /><Relationship Type="http://schemas.openxmlformats.org/officeDocument/2006/relationships/slide" Target="/ppt/slides/slide8.xml" Id="Rea9ca8f5230d4e98" /><Relationship Type="http://schemas.openxmlformats.org/officeDocument/2006/relationships/slide" Target="/ppt/slides/slide9.xml" Id="Rb51af3cc3c7a4c81" /><Relationship Type="http://schemas.openxmlformats.org/officeDocument/2006/relationships/slide" Target="/ppt/slides/slide10.xml" Id="R035b1cd6c7ac48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bfe4d795aa47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b1a3585e34469f" /><Relationship Type="http://schemas.openxmlformats.org/officeDocument/2006/relationships/notesMaster" Target="/ppt/notesMasters/notesMaster1.xml" Id="Re06a570525d44c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88c46490914731" /><Relationship Type="http://schemas.openxmlformats.org/officeDocument/2006/relationships/notesMaster" Target="/ppt/notesMasters/notesMaster1.xml" Id="R9982251f566a4e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fdcda8fcd94a40" /><Relationship Type="http://schemas.openxmlformats.org/officeDocument/2006/relationships/notesMaster" Target="/ppt/notesMasters/notesMaster1.xml" Id="R4df4b7bc310444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d029e3d6d2480d" /><Relationship Type="http://schemas.openxmlformats.org/officeDocument/2006/relationships/notesMaster" Target="/ppt/notesMasters/notesMaster1.xml" Id="Rc1c50ec64fe345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4130610d3849e4" /><Relationship Type="http://schemas.openxmlformats.org/officeDocument/2006/relationships/notesMaster" Target="/ppt/notesMasters/notesMaster1.xml" Id="R6cbef64704f242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10835df47541ac" /><Relationship Type="http://schemas.openxmlformats.org/officeDocument/2006/relationships/notesMaster" Target="/ppt/notesMasters/notesMaster1.xml" Id="Rd395bba6dca644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2e6e1d29ab4499" /><Relationship Type="http://schemas.openxmlformats.org/officeDocument/2006/relationships/notesMaster" Target="/ppt/notesMasters/notesMaster1.xml" Id="Rbe8e7fcdff4d4e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40ed6d17834574" /><Relationship Type="http://schemas.openxmlformats.org/officeDocument/2006/relationships/notesMaster" Target="/ppt/notesMasters/notesMaster1.xml" Id="Ra6a33c44966f48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a63c77aaa443c6" /><Relationship Type="http://schemas.openxmlformats.org/officeDocument/2006/relationships/notesMaster" Target="/ppt/notesMasters/notesMaster1.xml" Id="Rd07b1d0d7ca242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8acdeb5d4d40e7" /><Relationship Type="http://schemas.openxmlformats.org/officeDocument/2006/relationships/notesMaster" Target="/ppt/notesMasters/notesMaster1.xml" Id="R2ec0373190304a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49479dbc3440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2945928e3047e8" /><Relationship Type="http://schemas.openxmlformats.org/officeDocument/2006/relationships/slideLayout" Target="/ppt/slideLayouts/slideLayout1.xml" Id="Ra609f3a7641f42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09f3a7641f42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96f0a24764a2a" /><Relationship Type="http://schemas.openxmlformats.org/officeDocument/2006/relationships/notesSlide" Target="/ppt/notesSlides/notesSlide1.xml" Id="R189e9c577bc34e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608d8ece347dc" /><Relationship Type="http://schemas.openxmlformats.org/officeDocument/2006/relationships/notesSlide" Target="/ppt/notesSlides/notesSlide2.xml" Id="Rc8e71202a2a847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0e3591f644eb5" /><Relationship Type="http://schemas.openxmlformats.org/officeDocument/2006/relationships/notesSlide" Target="/ppt/notesSlides/notesSlide3.xml" Id="Ra5561b52c13c4c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c7998cf2d4229" /><Relationship Type="http://schemas.openxmlformats.org/officeDocument/2006/relationships/notesSlide" Target="/ppt/notesSlides/notesSlide4.xml" Id="R7c12deb1428746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75d9a12e0438a" /><Relationship Type="http://schemas.openxmlformats.org/officeDocument/2006/relationships/notesSlide" Target="/ppt/notesSlides/notesSlide5.xml" Id="Rb4188e3ec4fe4c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c692c52154e72" /><Relationship Type="http://schemas.openxmlformats.org/officeDocument/2006/relationships/notesSlide" Target="/ppt/notesSlides/notesSlide6.xml" Id="Rdea3dc4dfbd944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2b43d880e4c7c" /><Relationship Type="http://schemas.openxmlformats.org/officeDocument/2006/relationships/notesSlide" Target="/ppt/notesSlides/notesSlide7.xml" Id="R63956642c2644c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9f5961f52461c" /><Relationship Type="http://schemas.openxmlformats.org/officeDocument/2006/relationships/notesSlide" Target="/ppt/notesSlides/notesSlide8.xml" Id="R921d23d15d994e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c84eb25ef42f2" /><Relationship Type="http://schemas.openxmlformats.org/officeDocument/2006/relationships/notesSlide" Target="/ppt/notesSlides/notesSlide9.xml" Id="Rdf0695341c6e4a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26c9ca62d4d71" /><Relationship Type="http://schemas.openxmlformats.org/officeDocument/2006/relationships/notesSlide" Target="/ppt/notesSlides/notesSlide10.xml" Id="R37880248068f40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C2A9E-F5AB-469A-A480-D39A84BE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Nền tảng hỗ trợ tuyển dụng</a:t>
            </a:r>
          </a:p>
          <a:p xmlns:a="http://schemas.openxmlformats.org/drawingml/2006/main">
            <a:pPr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và phân tích CV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DC8A4-5875-4C08-877B-43D4F5F3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472"/>
                </a:solidFill>
              </a:defRPr>
            </a:pPr>
            <a:r>
              <a:rPr sz="1725" b="0">
                <a:solidFill>
                  <a:srgbClr val="5B6472"/>
                </a:solidFill>
              </a:rPr>
              <a:t>Giới thiệu sản phẩm, chức năng chính, dữ liệu và hướng phát triển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36340-E9EE-4680-904B-9EA2B579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09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B8E3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71244-D1A0-4239-9A17-AC9004EC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86B7"/>
                </a:solidFill>
              </a:defRPr>
            </a:pPr>
            <a:r>
              <a:rPr sz="1200" b="1">
                <a:solidFill>
                  <a:srgbClr val="1686B7"/>
                </a:solidFill>
              </a:rPr>
              <a:t>Mục tiêu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883CF-4150-4457-A24F-A712F1AC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Kết nối ứng viên và nhà tuyển dụng</a:t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trong một quy trình web thống nhất.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69A3E-1690-459A-8CEB-E64314BF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14300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3D8DFF"/>
                </a:solidFill>
              </a:defRPr>
            </a:pPr>
            <a:r>
              <a:rPr sz="4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35466-AA89-4A38-A765-BE812E54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764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Bản trình bày tổng quan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0D9DE-CC17-49AB-8361-C40376DD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A20BC-029D-46C6-B1FD-0814C446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Tập trung vào những gì hệ thống đang làm được ở mức hiện tại.</a:t>
            </a:r>
          </a:p>
        </p:txBody>
      </p:sp>
    </p:spTree>
    <p:extLst>
      <p:ext uri="{BB962C8B-B14F-4D97-AF65-F5344CB8AC3E}">
        <p14:creationId xmlns:p14="http://schemas.microsoft.com/office/powerpoint/2010/main" val="2044460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31B4F-9C7A-4D06-BE82-66105AA1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85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Nền tảng giải quyết bài toán nào?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D7075-9B0C-4025-964F-3D5C3FDA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Tập trung vào việc làm cho thông tin tuyển dụng và hồ sơ dễ tìm, dễ theo dõi hơn.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2086E-4704-446D-B188-50A1BE4D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572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C03DE-A831-4D8A-8646-9743BE81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Bối cảnh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EEFDB-D6F8-4FF3-8365-E13CAAB0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37147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Ứng viên có thể có nhiều CV và nhiều lần ứng tuyển.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Nhà tuyển dụng cần quản lý công việc, ứng viên và trạng thái xử lý.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CV thường chứa thông tin tự do, khó so sánh bằng cách thủ công.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A2D5F-E5DA-421D-B9B4-02B6C452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34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B8E3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A37A4-1B15-4408-9E74-DC6F34F5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33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6B7"/>
                </a:solidFill>
              </a:defRPr>
            </a:pPr>
            <a:r>
              <a:rPr sz="1800" b="1">
                <a:solidFill>
                  <a:srgbClr val="1686B7"/>
                </a:solidFill>
              </a:rPr>
              <a:t>Vai trò của nền tảng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0B2D0-ED5F-491A-A92D-53C5A884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Một không gian chung để: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6F44C-287F-4B01-B9F2-2BDA99B4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4095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1  Lưu hồ sơ, CV và tin tuyển dụng</a:t>
            </a:r>
          </a:p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2  Kết nối ứng viên với công việc</a:t>
            </a:r>
          </a:p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3  Hỗ trợ phân tích và gợi ý</a:t>
            </a:r>
          </a:p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4  Theo dõi tiến trình ứng tuyển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BDD86-40BE-4B29-8A07-90303688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86B7"/>
                </a:solidFill>
              </a:defRPr>
            </a:pPr>
            <a:r>
              <a:rPr sz="1200" b="1">
                <a:solidFill>
                  <a:srgbClr val="1686B7"/>
                </a:solidFill>
              </a:rPr>
              <a:t>AI đóng vai trò hỗ trợ tham khảo; quyết định cuối cùng vẫn thuộc về người dùng.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22856-D069-45BD-92D5-2175AA59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C"/>
          </a:solidFill>
          <a:ln xmlns:a="http://schemas.openxmlformats.org/drawingml/2006/main" w="0">
            <a:solidFill>
              <a:srgbClr val="E6E8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6BC62-E30A-4BE5-8CB2-8EBA98E5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Nền tảng hỗ trợ tuyển dụng — phạm vi đồ án/demo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49E8F-B576-4FBF-A1B2-C121F8DC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472"/>
                </a:solidFill>
              </a:defRPr>
            </a:pPr>
            <a:r>
              <a:rPr sz="900" b="1">
                <a:solidFill>
                  <a:srgbClr val="5B64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07127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941AC2-807E-49A0-A167-FE6F4066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85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Hai nhóm người dùng, hai luồng sử dụng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93561-A5B9-4A79-A3E1-1910EF46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Cùng dùng một nền tảng nhưng có mục tiêu và màn hình khác nhau.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76F5F-6404-4B36-9F93-21739B11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9527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9AA3AF"/>
                </a:solidFill>
              </a:defRPr>
            </a:pPr>
            <a:r>
              <a:rPr sz="2700" b="1">
                <a:solidFill>
                  <a:srgbClr val="9AA3AF"/>
                </a:solidFill>
              </a:rPr>
              <a:t>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28025-EE83-47CF-852F-C266861D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191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B8E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79C25-5D02-44D6-806F-BF603437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66900"/>
            <a:ext cx="4191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19D15-AA1A-4A6D-8D44-8B0F3874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86B7"/>
                </a:solidFill>
              </a:defRPr>
            </a:pPr>
            <a:r>
              <a:rPr sz="2250" b="1">
                <a:solidFill>
                  <a:srgbClr val="1686B7"/>
                </a:solidFill>
              </a:rPr>
              <a:t>Ứng viên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587B9-0872-4A31-85BC-256DC42D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Mục tiêu: tìm việc và quản lý hồ sơ cá nhân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8E36A-C7CC-4AC1-9470-364C88A3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Tạo/cập nhật hồ sơ</a:t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Tải lên và phân tích CV</a:t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Tìm kiếm, lưu và ứng tuyển việc làm</a:t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Theo dõi các đơn đã gửi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88E6E-816D-4759-9DCF-9A1DECA0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Nhà tuyển dụng / công 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EE5DA-F6E0-41D7-9D65-673B6768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479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Mục tiêu: đăng tin và xử lý ứng viên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18B22-3C6A-447D-A525-75F0240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6230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Quản lý hồ sơ công ty và nhân sự</a:t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Tạo, sửa, đóng tin tuyển dụng</a:t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Xem danh sách ứng viên</a:t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Cập nhật trạng thái xử lý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44419-4800-4686-9A70-E0BF5D6F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B6472"/>
                </a:solidFill>
              </a:defRPr>
            </a:pPr>
            <a:r>
              <a:rPr sz="1425" b="1">
                <a:solidFill>
                  <a:srgbClr val="5B6472"/>
                </a:solidFill>
              </a:rPr>
              <a:t>Một tài khoản có vai trò và trạng thái để kiểm soát quyền truy cập.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68C6C-C5E4-4619-A4D9-1881DC3F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C"/>
          </a:solidFill>
          <a:ln xmlns:a="http://schemas.openxmlformats.org/drawingml/2006/main" w="0">
            <a:solidFill>
              <a:srgbClr val="E6E8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6C23A-4E3E-41EC-A9B6-667BBE99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Nền tảng hỗ trợ tuyển dụng — phạm vi đồ án/demo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1A204-3283-4E09-86AD-DB95DB63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472"/>
                </a:solidFill>
              </a:defRPr>
            </a:pPr>
            <a:r>
              <a:rPr sz="900" b="1">
                <a:solidFill>
                  <a:srgbClr val="5B64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971077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66D1E6-1706-4328-A6F2-2DFC427A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85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Ứng viên có thể quản lý hồ sơ trong một quy trình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C1A7A-930E-4697-85F7-7C324476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Các chức năng tập trung vào CV, tìm việc và theo dõi ứng tuyển.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1974F-AA5D-401C-94DC-36E1B9E1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333625" cy="26670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8FA66-5680-4C62-9FF0-62F0AD68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EE386-067E-49CE-8A1D-8F974A5D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Hồ sơ cá nhân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FF6DC-E2E4-409F-B924-72602490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905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Thông tin liên hệ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Vị trí mong muốn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Kinh nghiệm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Liên kết portfolio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20B19-1A8D-4F8B-9814-C1B2B73D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00250"/>
            <a:ext cx="2333625" cy="26670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B8E3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192FF-3AE8-4447-8201-91D16164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28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D97B7-B8AE-4704-A699-24B2D1B9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47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Quản lý CV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346BD-648F-4891-BE45-F1E33C73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00400"/>
            <a:ext cx="1905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Tải CV PDF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Lưu nhiều phiên bản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Xem nội dung đã trích xuất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Xem kết quả phân tích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7ADA0-CEA5-4AD8-B105-53DF48DE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00250"/>
            <a:ext cx="2333625" cy="26670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23D12-C474-4AFA-84E2-31222439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28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4E154-CF18-4CFA-AF33-9533369E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Tìm việc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1C1AB-8E1D-4AAD-97DC-513F2643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1905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Tìm theo từ khóa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Xem công ty và tin tuyển dụng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Lưu tin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Nhận gợi ý tham khảo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79DFE-7D58-4C6A-9FE9-B166B410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000250"/>
            <a:ext cx="2333625" cy="26670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5AA84-138A-43FB-A73D-EEB0DB21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28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5740D-9FB0-4D80-B185-65071419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647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Theo dõi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473F01-1645-45DB-9B59-F4CB0C8D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200400"/>
            <a:ext cx="1905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Gửi đơn ứng tuyển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Xem trạng thái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Theo dõi lịch sử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Cập nhật thông tin khi cần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31746-3F7E-43BB-A59A-E2415F74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6B7"/>
                </a:solidFill>
              </a:defRPr>
            </a:pPr>
            <a:r>
              <a:rPr sz="1500" b="1">
                <a:solidFill>
                  <a:srgbClr val="1686B7"/>
                </a:solidFill>
              </a:rPr>
              <a:t>Điểm nhấn AI: phân tích CV và gợi ý việc làm dựa trên nội dung hồ sơ.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FDC29F-0410-40C7-ABB5-65AC81E5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C"/>
          </a:solidFill>
          <a:ln xmlns:a="http://schemas.openxmlformats.org/drawingml/2006/main" w="0">
            <a:solidFill>
              <a:srgbClr val="E6E8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F1549-1921-4F34-AAF8-9ED14743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Nền tảng hỗ trợ tuyển dụng — phạm vi đồ án/demo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3806C-BEC2-463B-8A98-E9C3246E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472"/>
                </a:solidFill>
              </a:defRPr>
            </a:pPr>
            <a:r>
              <a:rPr sz="900" b="1">
                <a:solidFill>
                  <a:srgbClr val="5B64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5785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D638E-C02A-4AFF-96C3-69C3943A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85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Nhà tuyển dụng có một luồng xử lý ứng viên rõ ràng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8DCDE-7DD2-4506-A28D-54D7E8BB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Từ đăng tin đến xem hồ sơ và cập nhật trạng thái.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77D1C-D0C9-497F-93E2-6A325400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Tin tuyển dụng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6AF72-8CDC-4048-85E2-617F62F5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238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Tạo / chỉnh sửa / đóng tin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Mô tả vị trí và kỹ năng yêu cầu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Gắn với công 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478BF-DC34-4AB5-B9D6-842C666B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47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AA3AF"/>
                </a:solidFill>
              </a:defRPr>
            </a:pPr>
            <a:r>
              <a:rPr sz="2550" b="1">
                <a:solidFill>
                  <a:srgbClr val="9AA3AF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AC0B6-995B-4CF1-8F3E-E386A7DD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574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86B7"/>
                </a:solidFill>
              </a:defRPr>
            </a:pPr>
            <a:r>
              <a:rPr sz="1950" b="1">
                <a:solidFill>
                  <a:srgbClr val="1686B7"/>
                </a:solidFill>
              </a:rPr>
              <a:t>Danh sách ứng viên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EAED6-A348-4B68-AB86-132B3420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9080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Xem các đơn đã gửi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Lọc / sắp xếp theo thông tin có sẵn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Có thể chạy phân tích độ phù hợp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69980-B77C-47CB-802F-107ED90F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AA3AF"/>
                </a:solidFill>
              </a:defRPr>
            </a:pPr>
            <a:r>
              <a:rPr sz="2550" b="1">
                <a:solidFill>
                  <a:srgbClr val="9AA3A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43049-2E8A-481E-982F-0AE971F7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57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Trạng thái xử lý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AAF9D-CE58-4DEF-96E0-9874D6AE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90800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Mời phỏng vấn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Đưa vào danh sách theo dõi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Từ chối hoặc cập nhật trạng thái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132EA-DE32-4242-8000-7991031A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8D5A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BB31F-3FD8-4F17-A6A6-CD5076C6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244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B5419"/>
                </a:solidFill>
              </a:defRPr>
            </a:pPr>
            <a:r>
              <a:rPr sz="1500" b="1">
                <a:solidFill>
                  <a:srgbClr val="6B5419"/>
                </a:solidFill>
              </a:rPr>
              <a:t>AI chỉ hỗ trợ sắp xếp thông tin và đưa ra điểm tham khảo; người tuyển dụng vẫn xem hồ sơ và quyết định.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DCA53-EE1D-44EE-A1EE-369156FE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C"/>
          </a:solidFill>
          <a:ln xmlns:a="http://schemas.openxmlformats.org/drawingml/2006/main" w="0">
            <a:solidFill>
              <a:srgbClr val="E6E8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CE78B-044D-4377-910D-C2A886D0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Nền tảng hỗ trợ tuyển dụng — phạm vi đồ án/demo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C7689-7F71-4EBF-BA1A-9B401EF8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472"/>
                </a:solidFill>
              </a:defRPr>
            </a:pPr>
            <a:r>
              <a:rPr sz="900" b="1">
                <a:solidFill>
                  <a:srgbClr val="5B64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777584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B0B99-190F-4FA8-99EC-1B68FF8C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85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Pipeline AI biến CV tự do thành dữ liệu có cấu trúc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D38E3-D614-4D98-80E8-2B165246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Mục tiêu là hỗ trợ đọc, chuẩn hóa và so sánh — không phải tự động quyết định tuyển dụng.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90306-B4A2-4015-90C8-27F90451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861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AA3AF"/>
                </a:solidFill>
              </a:defRPr>
            </a:pPr>
            <a:r>
              <a:rPr sz="2550" b="1">
                <a:solidFill>
                  <a:srgbClr val="9AA3AF"/>
                </a:solidFill>
              </a:rPr>
              <a:t>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C4AC8-6E42-4501-8031-08BF4416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861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AA3AF"/>
                </a:solidFill>
              </a:defRPr>
            </a:pPr>
            <a:r>
              <a:rPr sz="2550" b="1">
                <a:solidFill>
                  <a:srgbClr val="9AA3AF"/>
                </a:solidFill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BF843-3D50-4683-89E8-155775D1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861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AA3AF"/>
                </a:solidFill>
              </a:defRPr>
            </a:pPr>
            <a:r>
              <a:rPr sz="2550" b="1">
                <a:solidFill>
                  <a:srgbClr val="9AA3AF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C34DF-A2CD-465C-A6F6-20993D0F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000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208CD-D387-4EAB-8A80-236D348C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1. Đọc CV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8178E-7D92-4436-9051-04347811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pypdf lấy văn bản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từ file 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6EB9B-8D0C-4B7F-AE3E-31408EFC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09800"/>
            <a:ext cx="2000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B8E3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084AF-9ACB-4E2D-ABF2-FF27C53A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146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6B7"/>
                </a:solidFill>
              </a:defRPr>
            </a:pPr>
            <a:r>
              <a:rPr sz="1725" b="1">
                <a:solidFill>
                  <a:srgbClr val="1686B7"/>
                </a:solidFill>
              </a:rPr>
              <a:t>2. Phân tích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AC7FD-9205-4C3F-BD5E-F5225983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194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Gemini trả về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thông tin có cấu trúc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0F2B0-858C-4093-9887-D325437C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09800"/>
            <a:ext cx="2000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E9688-C677-48FF-BFA4-03A7B062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146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3. Chuẩn hóa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6FF11-9E7B-48D9-93A6-34BE6C77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194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SkillDetector +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luật nghiệp vụ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35E90-44E6-4472-8A0C-60811A1F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2000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32E5F-8A98-437C-9369-D20EBE63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4. Tìm tương đồng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3E87F9-D994-4355-B110-643EE7FA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194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Embedding + ChromaDB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tìm hồ sơ/tin gần nhau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1C306C-2603-4A9E-9AAD-BBEC64CA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BDE4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4EB41F-BF37-4B2C-A675-9344C73D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36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87A4A"/>
                </a:solidFill>
              </a:defRPr>
            </a:pPr>
            <a:r>
              <a:rPr sz="1425" b="1">
                <a:solidFill>
                  <a:srgbClr val="287A4A"/>
                </a:solidFill>
              </a:rPr>
              <a:t>Đầu ra có thể hiển thị: thông tin CV, kỹ năng phù hợp/còn thiếu, điểm tham khảo và gợi ý việc làm.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AE1E0-629D-46D4-B9B5-57DD244D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C"/>
          </a:solidFill>
          <a:ln xmlns:a="http://schemas.openxmlformats.org/drawingml/2006/main" w="0">
            <a:solidFill>
              <a:srgbClr val="E6E8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1EEF85-DA76-4C4E-81B1-AC826E7D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Nền tảng hỗ trợ tuyển dụng — phạm vi đồ án/demo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F5427-782C-40B8-9DE7-545C728B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472"/>
                </a:solidFill>
              </a:defRPr>
            </a:pPr>
            <a:r>
              <a:rPr sz="900" b="1">
                <a:solidFill>
                  <a:srgbClr val="5B64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347046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971919-3D42-46B6-A80C-B07EECEF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85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Quan hệ database xoay quanh User, hồ sơ và tin tuyển dụng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21476-E3F4-4433-B407-520707F3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Sơ đồ giản lược theo các entity chính trong backend hiện tại.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59116-E857-4C05-9CF4-185DB0AF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003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1—1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A6FB9-A69B-4DF7-B00D-BD488A55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1—N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B3840-C454-476C-AA2D-CA172023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03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1—N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E3905-759A-474D-BD70-E8C67364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67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N—N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CB7A9-60CC-4420-B8F1-1227CCD9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672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1—N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7D5B3-6A09-4F17-A577-6E51A98D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809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B8E3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C526B-43FA-47A9-AC79-D9B441AF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86B7"/>
                </a:solidFill>
              </a:defRPr>
            </a:pPr>
            <a:r>
              <a:rPr sz="1950" b="1">
                <a:solidFill>
                  <a:srgbClr val="1686B7"/>
                </a:solidFill>
              </a:rPr>
              <a:t>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2C12F-41E8-4C3B-B9DE-38B82458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tài khoản · role ·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963B5-A692-41BC-95D8-AACE58AE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0025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84462-37A4-4990-92E0-89409BA6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09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candidate_profiles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1FC58-00DD-4E71-9ACA-9FF70406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hồ sơ ứng viên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0AEC0-99D0-414D-AD8F-3F297D7D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8A8D4B-51FF-4D11-907F-0DA332CF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9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resumes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5953C-7A20-453B-B5FC-D93594C2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file + dữ liệu CV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AA5E2-F6E9-4E47-B26A-B315968A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0025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B8E3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97FBE1-E988-473B-905F-4E8AB58B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09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86B7"/>
                </a:solidFill>
              </a:defRPr>
            </a:pPr>
            <a:r>
              <a:rPr sz="1950" b="1">
                <a:solidFill>
                  <a:srgbClr val="1686B7"/>
                </a:solidFill>
              </a:rPr>
              <a:t>companies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A3D7DA-7338-420B-B479-98CD7B84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098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doanh nghiệp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A8C16-EAB9-45CE-A787-9AD18F87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48A7A2-FDBE-4ABD-AF3C-55E5756F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10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job_applications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152F55-F110-4364-B856-CDB2C652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101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đơn ứng tuyển + status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2C3BFC-34B8-42E4-882F-21FA581C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0C8B75-8008-4043-8AEA-012C2C6E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10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jobs_depcription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B5827B-3D94-4E95-94F4-C02A6307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0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tin tuyển dụng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6C9891-A57C-4596-A9AC-7C405B00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0050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82FDB3-A90E-49F6-9D7E-A6439319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10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skills / job_skills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191E84-C6EF-4784-8B03-751BAD5E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10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kỹ năng và mức yêu cầu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15CC8B-7F5A-4FE9-852D-37C2D383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71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Sơ đồ chỉ mô tả quan hệ chính; các bảng như job_views, saved_job, file_uploads và job_fit_caches phục vụ các luồng phụ.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930E8B-59C6-43C1-AA10-CDF02166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C"/>
          </a:solidFill>
          <a:ln xmlns:a="http://schemas.openxmlformats.org/drawingml/2006/main" w="0">
            <a:solidFill>
              <a:srgbClr val="E6E8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6FF3A4-F446-4DFE-A643-E86D4C77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Nền tảng hỗ trợ tuyển dụng — phạm vi đồ án/demo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9A694D-02A2-42D3-80B6-241C60E7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472"/>
                </a:solidFill>
              </a:defRPr>
            </a:pPr>
            <a:r>
              <a:rPr sz="900" b="1">
                <a:solidFill>
                  <a:srgbClr val="5B64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195794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16F255-AA65-4D44-A502-42A246EB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85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Kiến trúc tách phần web, nghiệp vụ và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23DB-521F-40F2-81D7-8637F4FF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Mỗi lớp có vai trò riêng để dễ phát triển trong phạm vi đồ án.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285B9-45AB-4C3E-81A4-93017C4A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670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AA3AF"/>
                </a:solidFill>
              </a:defRPr>
            </a:pPr>
            <a:r>
              <a:rPr sz="2550" b="1">
                <a:solidFill>
                  <a:srgbClr val="9AA3AF"/>
                </a:solidFill>
              </a:rPr>
              <a:t>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D1363-1F36-47DF-B75C-37DC7E05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670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AA3AF"/>
                </a:solidFill>
              </a:defRPr>
            </a:pPr>
            <a:r>
              <a:rPr sz="2550" b="1">
                <a:solidFill>
                  <a:srgbClr val="9AA3AF"/>
                </a:solidFill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E4051-B9C7-43BC-878B-C5503B10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670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AA3AF"/>
                </a:solidFill>
              </a:defRPr>
            </a:pPr>
            <a:r>
              <a:rPr sz="2550" b="1">
                <a:solidFill>
                  <a:srgbClr val="9AA3AF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38C6E-B80C-485C-9B2B-1A183C95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095500" cy="2190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20328-B599-4281-BCB9-D7D74393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01737-7ACE-4C9A-8EEC-49B0BE85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Next.js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Các màn hình ứng viên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và nhà tuyển dụng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32689-994E-4724-86A0-5DB85434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2095500" cy="2190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739DE-0C14-4B04-A64D-C3B7D034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548CC-360F-4D6B-A729-9A3AA0BE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Spring Boot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Auth, user, company, job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application và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10B75-A1BA-40F3-AD9F-C1DC2467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2095500" cy="2190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B8E3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3A911-FFE6-482B-BEDB-5C98A3C5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86B7"/>
                </a:solidFill>
              </a:defRPr>
            </a:pPr>
            <a:r>
              <a:rPr sz="1950" b="1">
                <a:solidFill>
                  <a:srgbClr val="1686B7"/>
                </a:solidFill>
              </a:rPr>
              <a:t>AI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504AB-C06D-4A95-863B-E1196FBC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FastAPI + Python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Gemini, pypdf, embedding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scoring và recommendation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C2D3D-329D-42F0-9265-55D1A788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095500" cy="2190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01CD5-682C-4E61-881C-55A42802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Lưu trữ / dịch vụ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0CFE19-AFE6-4399-B57F-0AFC7958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PostgreSQL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ChromaDB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Gemini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B2B32C-36FA-4697-84FC-56976E53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8D5A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23899-337B-48CE-8A78-A6C3BAE4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B5419"/>
                </a:solidFill>
              </a:defRPr>
            </a:pPr>
            <a:r>
              <a:rPr sz="1425" b="1">
                <a:solidFill>
                  <a:srgbClr val="6B5419"/>
                </a:solidFill>
              </a:rPr>
              <a:t>Hiện tại phù hợp với demo và quy mô nhỏ; chưa nên mô tả như một hệ thống production quy mô lớn.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032D97-749E-4A0F-95EB-A9F7CFD4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C"/>
          </a:solidFill>
          <a:ln xmlns:a="http://schemas.openxmlformats.org/drawingml/2006/main" w="0">
            <a:solidFill>
              <a:srgbClr val="E6E8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7E6ABF-642B-444A-AB16-9E0FD85E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Nền tảng hỗ trợ tuyển dụng — phạm vi đồ án/demo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8AEC74-960A-4EFF-B420-E7BE23BB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472"/>
                </a:solidFill>
              </a:defRPr>
            </a:pPr>
            <a:r>
              <a:rPr sz="900" b="1">
                <a:solidFill>
                  <a:srgbClr val="5B64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028668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81E1B-0728-4DE4-A606-1E53A2A6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85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Hướng mở rộng nên đi theo từng bước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2805F-0F61-46A3-BB7D-0EA1C691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Ưu tiên kiểm soát chất lượng và độ ổn định trước khi mở rộng quy mô.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0C1D2-6DF3-41A1-8134-4930FFE2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Gần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7E365-D083-438B-9ABC-EE569270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OCR cho CV scan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Kiểm tra schema JSON chặt hơn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Retry, timeout, logging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Bộ CV mẫu để đánh giá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8F61B-538F-468D-BE90-EAF5ECA9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526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6B7"/>
                </a:solidFill>
              </a:defRPr>
            </a:pPr>
            <a:r>
              <a:rPr sz="1800" b="1">
                <a:solidFill>
                  <a:srgbClr val="1686B7"/>
                </a:solidFill>
              </a:rPr>
              <a:t>Tiếp theo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95B30-122A-4B28-B171-44163F06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Công thức điểm rõ ràng hơn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Cache kết quả phân tích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Che dữ liệu nhạy cảm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Cải thiện trải nghiệm recruiter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57AFC-37E8-44AB-8C1C-7121366A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Khi quy mô tăng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43982-4C3C-4C4C-8D18-F30EBE57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PostgreSQL + pgvector hoặc hệ vector lớn hơn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Provider local khi cần offline/bảo mật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Theo dõi chi phí và chất lượng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Phân quyền, mã hóa, chính sách lưu trữ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EEA26-E6A5-4290-AB9B-97D66ACE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B8E3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69E1E-5109-4957-B9F5-85C44EA8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6B7"/>
                </a:solidFill>
              </a:defRPr>
            </a:pPr>
            <a:r>
              <a:rPr sz="1500" b="1">
                <a:solidFill>
                  <a:srgbClr val="1686B7"/>
                </a:solidFill>
              </a:rPr>
              <a:t>Nguyên tắc: mở rộng dựa trên nhu cầu thực tế và kết quả đánh giá, không mở rộng chỉ vì công nghệ.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51D09-8BFC-41B5-97FE-D24A7270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C"/>
          </a:solidFill>
          <a:ln xmlns:a="http://schemas.openxmlformats.org/drawingml/2006/main" w="0">
            <a:solidFill>
              <a:srgbClr val="E6E8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6A136-13D9-4A55-80B6-9EE3E9A8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Nền tảng hỗ trợ tuyển dụng — phạm vi đồ án/demo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D385C-E542-4026-A5CF-1B1AEC2D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472"/>
                </a:solidFill>
              </a:defRPr>
            </a:pPr>
            <a:r>
              <a:rPr sz="900" b="1">
                <a:solidFill>
                  <a:srgbClr val="5B64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898150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D75D4-6D27-4302-B2E3-69C6C770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85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Tóm lại: nền tảng đang làm tốt vai trò hỗ trợ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28085-E723-4790-9600-F0ABBA0C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Giá trị chính nằm ở quy trình kết nối dữ liệu và cách hiển thị kết quả dễ kiểm tra.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0F098-B294-4417-8B50-8329A695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B8E3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EB8B9-548A-407C-B55F-E9CC2792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6B7"/>
                </a:solidFill>
              </a:defRPr>
            </a:pPr>
            <a:r>
              <a:rPr sz="1875" b="1">
                <a:solidFill>
                  <a:srgbClr val="1686B7"/>
                </a:solidFill>
              </a:rPr>
              <a:t>Điểm chính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ACFA6-3B45-4C7F-A188-18B4C88B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095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Có luồng riêng cho ứng viên và nhà tuyển dụng</a:t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Có dữ liệu hồ sơ, CV, công việc và đơn ứng tuyển</a:t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AI hỗ trợ phân tích, chuẩn hóa và gợi ý</a:t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Quan hệ dữ liệu đủ rõ để mở rộng tiếp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2BC29-A875-4318-9C95-2AF22D7E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3149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8D5A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E698A-DC4A-4B9B-A792-89ABD427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B5419"/>
                </a:solidFill>
              </a:defRPr>
            </a:pPr>
            <a:r>
              <a:rPr sz="1875" b="1">
                <a:solidFill>
                  <a:srgbClr val="6B5419"/>
                </a:solidFill>
              </a:rPr>
              <a:t>Cách trình bày an toàn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69718-F5BD-432E-8BD3-2767243F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Đây là nền tảng hỗ trợ tuyển dụng ở mức demo/đồ án.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Kết quả AI là tham khảo, phụ thuộc dữ liệu đầu vào và cần con người kiểm tra trước khi ra quyết định.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91D1B-EF87-4919-AE96-5F0307A4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6472"/>
                </a:solidFill>
              </a:defRPr>
            </a:pPr>
            <a:r>
              <a:rPr sz="1575" b="1">
                <a:solidFill>
                  <a:srgbClr val="5B6472"/>
                </a:solidFill>
              </a:rPr>
              <a:t>Cảm ơn — sẵn sàng trao đổi về luồng chức năng và thiết kế dữ liệu.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DC396-4A06-4EC4-AF62-8FBE573B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C"/>
          </a:solidFill>
          <a:ln xmlns:a="http://schemas.openxmlformats.org/drawingml/2006/main" w="0">
            <a:solidFill>
              <a:srgbClr val="E6E8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0E876-2365-4D9E-B9BF-3F1AF081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Nền tảng hỗ trợ tuyển dụng — phạm vi đồ án/demo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1610C-BDA9-46C1-8A0E-32F06BED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472"/>
                </a:solidFill>
              </a:defRPr>
            </a:pPr>
            <a:r>
              <a:rPr sz="900" b="1">
                <a:solidFill>
                  <a:srgbClr val="5B647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18869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2026-07-21T14:56:59.0380000Z</dcterms:created>
  <dcterms:modified xsi:type="dcterms:W3CDTF">2026-07-21T14:56:59.0380000Z</dcterms:modified>
</coreProperties>
</file>